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13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692640" y="502920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92640" y="795528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92640" y="1088136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1380744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985248" y="502920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985248" y="795528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985248" y="1088136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985248" y="1380744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277856" y="502920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277856" y="795528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277856" y="1088136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277856" y="1380744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570464" y="502920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570464" y="795528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570464" y="1088136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570464" y="1380744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863072" y="502920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863072" y="795528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863072" y="1088136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863072" y="1380744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1155680" y="502920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1155680" y="795528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1155680" y="1088136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1155680" y="1380744"/>
            <a:ext cx="41148" cy="41148"/>
          </a:xfrm>
          <a:prstGeom prst="ellipse">
            <a:avLst/>
          </a:prstGeom>
          <a:solidFill>
            <a:srgbClr val="24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196596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CIVICSAGE</a:t>
            </a:r>
            <a:endParaRPr lang="en-US" sz="7800" dirty="0"/>
          </a:p>
        </p:txBody>
      </p:sp>
      <p:sp>
        <p:nvSpPr>
          <p:cNvPr id="28" name="Shape 26"/>
          <p:cNvSpPr/>
          <p:nvPr/>
        </p:nvSpPr>
        <p:spPr>
          <a:xfrm>
            <a:off x="502920" y="340156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B3B3A"/>
          </a:solidFill>
          <a:ln w="1270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2920" y="340156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38221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Exasol-Powered Civic Intelligence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02920" y="4297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“Finding the blind spots hidden behind public-service KPIs.”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502920" y="5212080"/>
            <a:ext cx="11185855" cy="9144"/>
          </a:xfrm>
          <a:prstGeom prst="roundRect">
            <a:avLst>
              <a:gd name="adj" fmla="val 900000"/>
            </a:avLst>
          </a:prstGeom>
          <a:solidFill>
            <a:srgbClr val="24304A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02920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570585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ADARSH SPL   ·   24BDS1172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023360" y="570585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KARTHICK   ·   24BAI1601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543800" y="570585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PN   ·   24BAI1595</a:t>
            </a:r>
            <a:endParaRPr lang="en-US" sz="13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9F26D6-3A7D-5EE3-D17D-7980FF94D7D1}"/>
              </a:ext>
            </a:extLst>
          </p:cNvPr>
          <p:cNvSpPr txBox="1"/>
          <p:nvPr/>
        </p:nvSpPr>
        <p:spPr>
          <a:xfrm>
            <a:off x="3246120" y="6355080"/>
            <a:ext cx="568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Vellore Institute of Technology , Chennai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Resolved on paper doesn’t always mean</a:t>
            </a:r>
            <a:endParaRPr lang="en-US" sz="29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resolved for the citizen.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5074920" cy="3566160"/>
          </a:xfrm>
          <a:prstGeom prst="roundRect">
            <a:avLst>
              <a:gd name="adj" fmla="val 2308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24688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METRICS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reports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3383280"/>
            <a:ext cx="100584" cy="100584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24712" y="328269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4041648"/>
            <a:ext cx="100584" cy="100584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24712" y="394106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4700016"/>
            <a:ext cx="100584" cy="100584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24712" y="45994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closure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2148840"/>
            <a:ext cx="5074920" cy="3566160"/>
          </a:xfrm>
          <a:prstGeom prst="roundRect">
            <a:avLst>
              <a:gd name="adj" fmla="val 2308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49440" y="24688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EXPERIENCE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28346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citizen actually feels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0" y="3383280"/>
            <a:ext cx="100584" cy="100584"/>
          </a:xfrm>
          <a:prstGeom prst="ellipse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05472" y="328269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volume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0" y="4041648"/>
            <a:ext cx="100584" cy="100584"/>
          </a:xfrm>
          <a:prstGeom prst="ellipse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05472" y="394106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aging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49440" y="4700016"/>
            <a:ext cx="100584" cy="100584"/>
          </a:xfrm>
          <a:prstGeom prst="ellipse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205472" y="45994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complaints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96712" y="3547872"/>
            <a:ext cx="768096" cy="768096"/>
          </a:xfrm>
          <a:prstGeom prst="ellipse">
            <a:avLst/>
          </a:prstGeom>
          <a:solidFill>
            <a:srgbClr val="0A0E17"/>
          </a:solidFill>
          <a:ln w="1905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96712" y="35478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hidden inside conventional dashboards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11183112" cy="1417320"/>
          </a:xfrm>
          <a:prstGeom prst="roundRect">
            <a:avLst>
              <a:gd name="adj" fmla="val 5806"/>
            </a:avLst>
          </a:prstGeom>
          <a:solidFill>
            <a:srgbClr val="0F2420"/>
          </a:solidFill>
          <a:ln w="12700">
            <a:solidFill>
              <a:srgbClr val="3ED59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THE SURFACE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670048"/>
            <a:ext cx="3291840" cy="621792"/>
          </a:xfrm>
          <a:prstGeom prst="roundRect">
            <a:avLst>
              <a:gd name="adj" fmla="val 50000"/>
            </a:avLst>
          </a:prstGeom>
          <a:solidFill>
            <a:srgbClr val="12312A"/>
          </a:solidFill>
          <a:ln w="1270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6700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resolution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2670048"/>
            <a:ext cx="3291840" cy="621792"/>
          </a:xfrm>
          <a:prstGeom prst="roundRect">
            <a:avLst>
              <a:gd name="adj" fmla="val 50000"/>
            </a:avLst>
          </a:prstGeom>
          <a:solidFill>
            <a:srgbClr val="12312A"/>
          </a:solidFill>
          <a:ln w="1270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80560" y="26700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closure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92440" y="2670048"/>
            <a:ext cx="3291840" cy="621792"/>
          </a:xfrm>
          <a:prstGeom prst="roundRect">
            <a:avLst>
              <a:gd name="adj" fmla="val 50000"/>
            </a:avLst>
          </a:prstGeom>
          <a:solidFill>
            <a:srgbClr val="12312A"/>
          </a:solidFill>
          <a:ln w="1270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92440" y="26700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SLA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81448" y="3502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0A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11183112" cy="1417320"/>
          </a:xfrm>
          <a:prstGeom prst="roundRect">
            <a:avLst>
              <a:gd name="adj" fmla="val 5806"/>
            </a:avLst>
          </a:prstGeom>
          <a:solidFill>
            <a:srgbClr val="2A1614"/>
          </a:solidFill>
          <a:ln w="12700">
            <a:solidFill>
              <a:srgbClr val="E2574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4206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UNDERNEATH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4590288"/>
            <a:ext cx="3291840" cy="621792"/>
          </a:xfrm>
          <a:prstGeom prst="roundRect">
            <a:avLst>
              <a:gd name="adj" fmla="val 50000"/>
            </a:avLst>
          </a:prstGeom>
          <a:solidFill>
            <a:srgbClr val="3A1C19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459028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aging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80560" y="4590288"/>
            <a:ext cx="3291840" cy="621792"/>
          </a:xfrm>
          <a:prstGeom prst="roundRect">
            <a:avLst>
              <a:gd name="adj" fmla="val 50000"/>
            </a:avLst>
          </a:prstGeom>
          <a:solidFill>
            <a:srgbClr val="3A1C19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480560" y="459028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complaints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4590288"/>
            <a:ext cx="3291840" cy="621792"/>
          </a:xfrm>
          <a:prstGeom prst="roundRect">
            <a:avLst>
              <a:gd name="adj" fmla="val 50000"/>
            </a:avLst>
          </a:prstGeom>
          <a:solidFill>
            <a:srgbClr val="3A1C19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092440" y="459028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follow-ups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569671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 POTENTIAL BLIND SPOT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CivicSage turns operational data into civic intelligence.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1492" y="2514600"/>
            <a:ext cx="1353312" cy="1005840"/>
          </a:xfrm>
          <a:prstGeom prst="roundRect">
            <a:avLst>
              <a:gd name="adj" fmla="val 7273"/>
            </a:avLst>
          </a:prstGeom>
          <a:solidFill>
            <a:srgbClr val="1B3B3A"/>
          </a:solidFill>
          <a:ln w="15875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7212" y="2514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16356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47392" y="2514600"/>
            <a:ext cx="1353312" cy="100584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5875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93112" y="2514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02256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3292" y="2514600"/>
            <a:ext cx="1353312" cy="100584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5875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79012" y="2514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88156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9192" y="2514600"/>
            <a:ext cx="1353312" cy="100584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5875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64912" y="2514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INVESTI-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74056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5092" y="2514600"/>
            <a:ext cx="1353312" cy="100584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5875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50812" y="2514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59956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90992" y="2514600"/>
            <a:ext cx="1353312" cy="100584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5875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436712" y="2514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45856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76892" y="2514600"/>
            <a:ext cx="1353312" cy="1005840"/>
          </a:xfrm>
          <a:prstGeom prst="roundRect">
            <a:avLst>
              <a:gd name="adj" fmla="val 7273"/>
            </a:avLst>
          </a:prstGeom>
          <a:solidFill>
            <a:srgbClr val="1B3B3A"/>
          </a:solidFill>
          <a:ln w="15875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922612" y="2514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931756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07946" y="2944368"/>
            <a:ext cx="3803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793846" y="2944368"/>
            <a:ext cx="3803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79746" y="2944368"/>
            <a:ext cx="3803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65646" y="2944368"/>
            <a:ext cx="3803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51546" y="2944368"/>
            <a:ext cx="3803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737446" y="2944368"/>
            <a:ext cx="3803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02920" y="402336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3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closed intelligence loop — impact findings continuously refine future signal detection.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2580" y="4434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15188" y="46542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5188" y="50566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traces back to raw signals.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35628" y="4434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28236" y="46542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628236" y="50566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reviewable, not black-box.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48676" y="4434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441284" y="46542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441284" y="50566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investigates; people decide.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EXASOL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Exasol is the analytical engine behind the intelligence.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3383280" cy="3611880"/>
          </a:xfrm>
          <a:prstGeom prst="roundRect">
            <a:avLst>
              <a:gd name="adj" fmla="val 2432"/>
            </a:avLst>
          </a:prstGeom>
          <a:solidFill>
            <a:srgbClr val="0F1B2E"/>
          </a:solidFill>
          <a:ln w="12700">
            <a:solidFill>
              <a:srgbClr val="2DD4C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5528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SCALE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3429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5.32M+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kern="0" spc="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CASE RECORDS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kern="0" spc="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IN EXASOL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5303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CIVICSAGE.DEPT_KPIS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43400" y="2194560"/>
            <a:ext cx="7345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PERFORMS THE FULL ANALYTICAL WORKLOAD: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651760"/>
            <a:ext cx="3535528" cy="621792"/>
          </a:xfrm>
          <a:prstGeom prst="roundRect">
            <a:avLst>
              <a:gd name="adj" fmla="val 13235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3169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aggregation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3248" y="2651760"/>
            <a:ext cx="3535528" cy="621792"/>
          </a:xfrm>
          <a:prstGeom prst="roundRect">
            <a:avLst>
              <a:gd name="adj" fmla="val 13235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81848" y="2651760"/>
            <a:ext cx="3169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normalization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3429000"/>
            <a:ext cx="3535528" cy="621792"/>
          </a:xfrm>
          <a:prstGeom prst="roundRect">
            <a:avLst>
              <a:gd name="adj" fmla="val 13235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0" y="3429000"/>
            <a:ext cx="3169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3248" y="3429000"/>
            <a:ext cx="3535528" cy="621792"/>
          </a:xfrm>
          <a:prstGeom prst="roundRect">
            <a:avLst>
              <a:gd name="adj" fmla="val 13235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81848" y="3429000"/>
            <a:ext cx="3169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Log-scaled volume weighting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4206240"/>
            <a:ext cx="3535528" cy="621792"/>
          </a:xfrm>
          <a:prstGeom prst="roundRect">
            <a:avLst>
              <a:gd name="adj" fmla="val 13235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0" y="4206240"/>
            <a:ext cx="3169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3248" y="4206240"/>
            <a:ext cx="3535528" cy="621792"/>
          </a:xfrm>
          <a:prstGeom prst="roundRect">
            <a:avLst>
              <a:gd name="adj" fmla="val 13235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81848" y="4206240"/>
            <a:ext cx="3169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5093208"/>
            <a:ext cx="7345375" cy="868680"/>
          </a:xfrm>
          <a:prstGeom prst="roundRect">
            <a:avLst>
              <a:gd name="adj" fmla="val 9474"/>
            </a:avLst>
          </a:prstGeom>
          <a:solidFill>
            <a:srgbClr val="0F2420"/>
          </a:solidFill>
          <a:ln w="12700">
            <a:solidFill>
              <a:srgbClr val="2DD4C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63440" y="5093208"/>
            <a:ext cx="6705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“Instead of moving millions of records to the application, we move the intelligence to the data.”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Exasol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blind spot has an explainable score.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SCORE = 0.35×BACKLOG + 0.30×AGING + 0.20×RESOLUTION + 0.15×VOLUME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3914089" cy="777240"/>
          </a:xfrm>
          <a:prstGeom prst="rect">
            <a:avLst/>
          </a:prstGeom>
          <a:solidFill>
            <a:srgbClr val="E257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39140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3511296"/>
            <a:ext cx="39140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7009" y="2606040"/>
            <a:ext cx="3354934" cy="777240"/>
          </a:xfrm>
          <a:prstGeom prst="rect">
            <a:avLst/>
          </a:prstGeom>
          <a:solidFill>
            <a:srgbClr val="F0A8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17009" y="2679192"/>
            <a:ext cx="335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417009" y="3511296"/>
            <a:ext cx="33549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Aging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 Year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1943" y="2606040"/>
            <a:ext cx="2236622" cy="77724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1943" y="2679192"/>
            <a:ext cx="22366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1943" y="3511296"/>
            <a:ext cx="2236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08565" y="2606040"/>
            <a:ext cx="1677467" cy="777240"/>
          </a:xfrm>
          <a:prstGeom prst="rect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008565" y="2679192"/>
            <a:ext cx="16774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08565" y="3511296"/>
            <a:ext cx="16774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Pending-Case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093208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2A1614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95528" y="52395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57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5528" y="5623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70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34256" y="5093208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2A2214"/>
          </a:solidFill>
          <a:ln w="12700">
            <a:solidFill>
              <a:srgbClr val="F0A8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26864" y="52395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26864" y="5623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≤ Score &lt; 70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65592" y="5093208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F2420"/>
          </a:solidFill>
          <a:ln w="1270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458200" y="52395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58200" y="5623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40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5.32 million cases to 124 actionable blind spots.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216712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5.32M+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9809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ANALYZED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34256" y="205740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34256" y="216712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34256" y="29809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 DETECTED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65592" y="205740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65592" y="216712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A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69.97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65592" y="29809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RISK SCORE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11183112" cy="2011680"/>
          </a:xfrm>
          <a:prstGeom prst="roundRect">
            <a:avLst>
              <a:gd name="adj" fmla="val 4091"/>
            </a:avLst>
          </a:prstGeom>
          <a:solidFill>
            <a:srgbClr val="0F1B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3913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BLIND SPOT — LEGAL AFFAIRS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085832" y="3895344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2A2214"/>
          </a:solidFill>
          <a:ln w="12700">
            <a:solidFill>
              <a:srgbClr val="F0A8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85832" y="3895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434840"/>
            <a:ext cx="1907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76.63%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1907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kern="0" spc="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58998" y="4434840"/>
            <a:ext cx="1907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61.13%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2958998" y="4983480"/>
            <a:ext cx="1907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kern="0" spc="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&gt; 1 YEAR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49317" y="4434840"/>
            <a:ext cx="1907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5049317" y="4983480"/>
            <a:ext cx="1907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kern="0" spc="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&gt; 3 YEARS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9635" y="4434840"/>
            <a:ext cx="1907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2,822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7139635" y="4983480"/>
            <a:ext cx="1907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kern="0" spc="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PENDING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29954" y="4434840"/>
            <a:ext cx="1907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69.97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9229954" y="4983480"/>
            <a:ext cx="1907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kern="0" spc="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58521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3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conventional dashboard highlights the 76.63% resolution rate. CivicSage asks what is hiding behind it.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12251" y="795715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administrative success match citizen reality?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50520" y="208026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METRICS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0096" y="2917684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79890" y="29032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07522" y="2950341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42516" y="295808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16680" y="2935877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68045" y="2935877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2130552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4944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SIGNALS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49440" y="288036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49440" y="2880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Complaints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41080" y="288036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41080" y="2880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332720" y="288036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332720" y="2880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96712" y="2820924"/>
            <a:ext cx="768096" cy="768096"/>
          </a:xfrm>
          <a:prstGeom prst="ellipse">
            <a:avLst/>
          </a:prstGeom>
          <a:solidFill>
            <a:srgbClr val="0A0E17"/>
          </a:solidFill>
          <a:ln w="19050">
            <a:solidFill>
              <a:srgbClr val="F0A8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96712" y="27934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12968" y="4361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048" y="4754880"/>
            <a:ext cx="5120640" cy="868680"/>
          </a:xfrm>
          <a:prstGeom prst="roundRect">
            <a:avLst>
              <a:gd name="adj" fmla="val 50000"/>
            </a:avLst>
          </a:prstGeom>
          <a:solidFill>
            <a:srgbClr val="2A1614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38048" y="4754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27268" y="50749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33008" y="4754880"/>
            <a:ext cx="5120640" cy="868680"/>
          </a:xfrm>
          <a:prstGeom prst="roundRect">
            <a:avLst>
              <a:gd name="adj" fmla="val 50000"/>
            </a:avLst>
          </a:prstGeom>
          <a:solidFill>
            <a:srgbClr val="0F2420"/>
          </a:solidFill>
          <a:ln w="1270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33008" y="4754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BLIND SPOT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is only the beginning.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75608" y="201168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2A1614"/>
          </a:solidFill>
          <a:ln w="15875">
            <a:solidFill>
              <a:srgbClr val="E257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221328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DETECTED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12968" y="2633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75608" y="292608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0F2420"/>
          </a:solidFill>
          <a:ln w="15875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21328" y="2926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INVESTIGATION BRIEF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12968" y="3547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4292" y="38404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60324" y="39867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0324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deviation from expected pattern.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5628" y="38404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91660" y="39867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it be happening?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91660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contributing operational signals.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66964" y="38404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22996" y="39867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supports it?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22996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the underlying records and trends.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12968" y="4919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175608" y="521208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161F35"/>
          </a:solidFill>
          <a:ln w="15875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21328" y="52120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5888736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3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assists the investigation — humans remain responsible for the decision.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accountable action.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9182" y="25146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1472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6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1472" y="32918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1472" y="3749040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insight back to source records.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5800" y="25146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26968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6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26968" y="32918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26968" y="3749040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validate before action.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2025" y="256032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52464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6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52464" y="32918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2464" y="3749040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operational correction applied.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76792" y="25146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0F2420"/>
          </a:solidFill>
          <a:ln w="12700">
            <a:solidFill>
              <a:srgbClr val="2DD4C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27796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77960" y="32918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Tracking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77960" y="3749040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outcomes measured.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29287" y="33832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85602" y="33832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729320" y="342526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8463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3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 accountability: findings are never just displayed — they are tracked to a measurable outcome.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Exasol.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23360" y="1874520"/>
            <a:ext cx="4206240" cy="502920"/>
          </a:xfrm>
          <a:prstGeom prst="roundRect">
            <a:avLst>
              <a:gd name="adj" fmla="val 16364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297680" y="1947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2121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case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23360" y="2834640"/>
            <a:ext cx="4206240" cy="777240"/>
          </a:xfrm>
          <a:prstGeom prst="roundRect">
            <a:avLst>
              <a:gd name="adj" fmla="val 10588"/>
            </a:avLst>
          </a:prstGeom>
          <a:solidFill>
            <a:srgbClr val="0F2420"/>
          </a:solidFill>
          <a:ln w="12700">
            <a:solidFill>
              <a:srgbClr val="2DD4C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9768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3355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· Normalization · Risk Scoring · Ranking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3931920"/>
            <a:ext cx="4206240" cy="685800"/>
          </a:xfrm>
          <a:prstGeom prst="roundRect">
            <a:avLst>
              <a:gd name="adj" fmla="val 12000"/>
            </a:avLst>
          </a:prstGeom>
          <a:solidFill>
            <a:srgbClr val="161F35"/>
          </a:solidFill>
          <a:ln w="12700">
            <a:solidFill>
              <a:srgbClr val="4F8EF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9768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4361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· Business Logic · Evidence APIs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4937760"/>
            <a:ext cx="4206240" cy="685800"/>
          </a:xfrm>
          <a:prstGeom prst="roundRect">
            <a:avLst>
              <a:gd name="adj" fmla="val 12000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976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5367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 dashboard · charts · investigations UI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D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0" y="3630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D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0" y="4636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D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732520" y="3931920"/>
            <a:ext cx="2926080" cy="685800"/>
          </a:xfrm>
          <a:prstGeom prst="roundRect">
            <a:avLst>
              <a:gd name="adj" fmla="val 12000"/>
            </a:avLst>
          </a:prstGeom>
          <a:solidFill>
            <a:srgbClr val="241832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961120" y="4023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9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0" y="43159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· briefs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11312" y="41285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49040" y="2743200"/>
            <a:ext cx="4754880" cy="1984248"/>
          </a:xfrm>
          <a:prstGeom prst="roundRect">
            <a:avLst>
              <a:gd name="adj" fmla="val 4608"/>
            </a:avLst>
          </a:prstGeom>
          <a:ln w="15875">
            <a:solidFill>
              <a:srgbClr val="5D6A8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92040" y="2578608"/>
            <a:ext cx="2468880" cy="201168"/>
          </a:xfrm>
          <a:prstGeom prst="rect">
            <a:avLst/>
          </a:prstGeom>
          <a:solidFill>
            <a:srgbClr val="0A0E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49040" y="2377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 ENVIRONMENT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32520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32520" y="520293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732520" y="5202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01200" y="5202936"/>
            <a:ext cx="864108" cy="27432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601200" y="5202936"/>
            <a:ext cx="86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556748" y="520293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556748" y="5202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32520" y="5532120"/>
            <a:ext cx="1124712" cy="27432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732520" y="553212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SQL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948672" y="5532120"/>
            <a:ext cx="864108" cy="27432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948672" y="5532120"/>
            <a:ext cx="86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904220" y="5532120"/>
            <a:ext cx="690372" cy="27432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904220" y="5532120"/>
            <a:ext cx="69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32520" y="5861304"/>
            <a:ext cx="1124712" cy="27432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732520" y="5861304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948672" y="5861304"/>
            <a:ext cx="516636" cy="27432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948672" y="5861304"/>
            <a:ext cx="516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56748" y="586130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61F35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0556748" y="58613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CIVICSAGE DIFFERENT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Detection, not just decoration.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404872"/>
            <a:ext cx="384048" cy="384048"/>
          </a:xfrm>
          <a:prstGeom prst="ellipse">
            <a:avLst/>
          </a:prstGeom>
          <a:solidFill>
            <a:srgbClr val="0F2420"/>
          </a:solidFill>
          <a:ln w="1270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Exasol-native analytics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heavy computation runs inside Exasol via SQL — not bolted on afterward.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21488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08576" y="2404872"/>
            <a:ext cx="384048" cy="384048"/>
          </a:xfrm>
          <a:prstGeom prst="ellipse">
            <a:avLst/>
          </a:prstGeom>
          <a:solidFill>
            <a:srgbClr val="0F2420"/>
          </a:solidFill>
          <a:ln w="1270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08576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8576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multi-signal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33375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decomposes into backlog, aging, resolution, and volume.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65592" y="21488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439912" y="2404872"/>
            <a:ext cx="384048" cy="384048"/>
          </a:xfrm>
          <a:prstGeom prst="ellipse">
            <a:avLst/>
          </a:prstGeom>
          <a:solidFill>
            <a:srgbClr val="0F2420"/>
          </a:solidFill>
          <a:ln w="1270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39912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39912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investigation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39912" y="33375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structured brief for every detected blind spot.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3434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599432"/>
            <a:ext cx="384048" cy="384048"/>
          </a:xfrm>
          <a:prstGeom prst="ellipse">
            <a:avLst/>
          </a:prstGeom>
          <a:solidFill>
            <a:srgbClr val="0F2420"/>
          </a:solidFill>
          <a:ln w="1270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decisions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532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trace back to the records that produced them.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43434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21A2C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08576" y="4599432"/>
            <a:ext cx="384048" cy="384048"/>
          </a:xfrm>
          <a:prstGeom prst="ellipse">
            <a:avLst/>
          </a:prstGeom>
          <a:solidFill>
            <a:srgbClr val="0F2420"/>
          </a:solidFill>
          <a:ln w="1270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08576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08576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impact tracking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08576" y="5532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comparison shows if interventions actually worked.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prototype to civic decision infrastructure.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0F2420"/>
          </a:solidFill>
          <a:ln w="12700">
            <a:solidFill>
              <a:srgbClr val="2DD4C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0A0E17"/>
          </a:solidFill>
          <a:ln w="12700">
            <a:solidFill>
              <a:srgbClr val="2D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191256"/>
            <a:ext cx="82296" cy="82296"/>
          </a:xfrm>
          <a:prstGeom prst="ellipse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78408" y="30540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analytics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758184"/>
            <a:ext cx="82296" cy="82296"/>
          </a:xfrm>
          <a:prstGeom prst="ellipse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78408" y="36210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Blind-spot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325112"/>
            <a:ext cx="82296" cy="82296"/>
          </a:xfrm>
          <a:prstGeom prst="ellipse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78408" y="41879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investigation briefs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4256" y="21945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0F1B2E"/>
          </a:solidFill>
          <a:ln w="12700">
            <a:solidFill>
              <a:srgbClr val="4F8EF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08576" y="246888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0A0E1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08576" y="24688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08576" y="3191256"/>
            <a:ext cx="82296" cy="82296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9744" y="30540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civic data feeds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08576" y="3758184"/>
            <a:ext cx="82296" cy="82296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09744" y="36210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08576" y="4325112"/>
            <a:ext cx="82296" cy="82296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9744" y="41879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backlog modeling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08576" y="4892040"/>
            <a:ext cx="82296" cy="82296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09744" y="4754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anomaly detection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65592" y="21945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B1526"/>
          </a:solidFill>
          <a:ln w="12700">
            <a:solidFill>
              <a:srgbClr val="B794F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439912" y="246888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0A0E17"/>
          </a:solidFill>
          <a:ln w="12700">
            <a:solidFill>
              <a:srgbClr val="B794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439912" y="24688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9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39912" y="3191256"/>
            <a:ext cx="82296" cy="82296"/>
          </a:xfrm>
          <a:prstGeom prst="ellipse">
            <a:avLst/>
          </a:prstGeom>
          <a:solidFill>
            <a:srgbClr val="B79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641080" y="30540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civic intelligence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39912" y="3758184"/>
            <a:ext cx="82296" cy="82296"/>
          </a:xfrm>
          <a:prstGeom prst="ellipse">
            <a:avLst/>
          </a:prstGeom>
          <a:solidFill>
            <a:srgbClr val="B79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641080" y="36210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decision support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39912" y="4325112"/>
            <a:ext cx="82296" cy="82296"/>
          </a:xfrm>
          <a:prstGeom prst="ellipse">
            <a:avLst/>
          </a:prstGeom>
          <a:solidFill>
            <a:srgbClr val="B79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641080" y="41879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National-scale deployment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87368" y="38862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D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918704" y="38862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D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CIVICSAGE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don’t just show what happened.</a:t>
            </a:r>
            <a:endParaRPr lang="en-US" sz="2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find where the numbers may be hiding a problem.”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34290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D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CIVICSAGE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3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blind spots behind the numbers.”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5166360"/>
            <a:ext cx="11185855" cy="9144"/>
          </a:xfrm>
          <a:prstGeom prst="roundRect">
            <a:avLst>
              <a:gd name="adj" fmla="val 900000"/>
            </a:avLst>
          </a:prstGeom>
          <a:solidFill>
            <a:srgbClr val="24304A"/>
          </a:solidFill>
          <a:ln w="12700">
            <a:solidFill>
              <a:srgbClr val="2430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5358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56509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ADARSH SPL   ·   24BDS1172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23360" y="56509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KARTHICK   ·   24BAI1601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43800" y="56509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PN   ·   24BAI1595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uses synthetic / illustrative civic data for demonstration.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869</Words>
  <Application>Microsoft Office PowerPoint</Application>
  <PresentationFormat>Widescreen</PresentationFormat>
  <Paragraphs>294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ADARSH SPL</cp:lastModifiedBy>
  <cp:revision>3</cp:revision>
  <dcterms:created xsi:type="dcterms:W3CDTF">2026-08-23T18:29:00Z</dcterms:created>
  <dcterms:modified xsi:type="dcterms:W3CDTF">2026-08-23T18:47:27Z</dcterms:modified>
</cp:coreProperties>
</file>